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0"/>
            <a:ext cx="91440" cy="2926080"/>
          </a:xfrm>
          <a:prstGeom prst="rect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AGENTIC AI-BASED DYNAMIC TARIFF OPTIMIZATION</a:t>
            </a:r>
          </a:p>
          <a:p>
            <a:pPr>
              <a:spcBef>
                <a:spcPts val="1000"/>
              </a:spcBef>
              <a:defRPr sz="2000">
                <a:solidFill>
                  <a:srgbClr val="B4BEBE"/>
                </a:solidFill>
              </a:defRPr>
            </a:pPr>
            <a:r>
              <a:t>Self-Improving Pricing Models for EV Charging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EBE"/>
                </a:solidFill>
              </a:defRPr>
            </a:pPr>
            <a:r>
              <a:t>Society of Business | Open Project 2026 Submission</a:t>
            </a:r>
            <a:br/>
            <a:r>
              <a:t>Datasets Analyzed: ACN-Caltech and UrbanEV Shenzhen</a:t>
            </a:r>
            <a:br/>
            <a:r>
              <a:t>Model Engine: Random Forest Regressor &amp; Pricing Optimization Loop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7295" cy="36576"/>
          </a:xfrm>
          <a:prstGeom prst="rect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C88"/>
                </a:solidFill>
              </a:defRPr>
            </a:pPr>
            <a:r>
              <a:t>OPERATIONAL PRESTIGE '26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Data Landscape &amp; Alignment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CC88"/>
                </a:solidFill>
              </a:defRPr>
            </a:pPr>
            <a:r>
              <a:t>Two Divergent Datasets Aligned</a:t>
            </a:r>
          </a:p>
          <a:p>
            <a:pPr>
              <a:spcAft>
                <a:spcPts val="400"/>
              </a:spcAft>
              <a:defRPr sz="1150" b="0">
                <a:solidFill>
                  <a:srgbClr val="FFFFFF"/>
                </a:solidFill>
              </a:defRPr>
            </a:pPr>
            <a:r>
              <a:t>- ACN-Caltech: Session-level granularity covering 14,999 charging events. Converted from raw JSON.xlsx to structured CSV.</a:t>
            </a:r>
          </a:p>
          <a:p>
            <a:pPr>
              <a:spcAft>
                <a:spcPts val="400"/>
              </a:spcAft>
              <a:defRPr sz="1150" b="0">
                <a:solidFill>
                  <a:srgbClr val="FFFFFF"/>
                </a:solidFill>
              </a:defRPr>
            </a:pPr>
            <a:r>
              <a:t>- UrbanEV: 5-minute interval aggregated grid telemetry spanning 247 districts in Shenzhen, China (24,798 charging piles total).</a:t>
            </a:r>
          </a:p>
          <a:p>
            <a:pPr>
              <a:spcAft>
                <a:spcPts val="800"/>
              </a:spcAft>
              <a:defRPr sz="1400" b="1">
                <a:solidFill>
                  <a:srgbClr val="00CC88"/>
                </a:solidFill>
              </a:defRPr>
            </a:pPr>
            <a:r>
              <a:t>Unified Processing Pipeline</a:t>
            </a:r>
          </a:p>
          <a:p>
            <a:pPr>
              <a:spcAft>
                <a:spcPts val="400"/>
              </a:spcAft>
              <a:defRPr sz="1150" b="0">
                <a:solidFill>
                  <a:srgbClr val="FFFFFF"/>
                </a:solidFill>
              </a:defRPr>
            </a:pPr>
            <a:r>
              <a:t>- ACN session times were discretized and mapped onto an hourly timeline by distributing delivered energy (kWh) across active hours.</a:t>
            </a:r>
          </a:p>
          <a:p>
            <a:pPr>
              <a:spcAft>
                <a:spcPts val="400"/>
              </a:spcAft>
              <a:defRPr sz="1150" b="0">
                <a:solidFill>
                  <a:srgbClr val="FFFFFF"/>
                </a:solidFill>
              </a:defRPr>
            </a:pPr>
            <a:r>
              <a:t>- UrbanEV's 5-minute intervals were aggregated to hourly averages to stabilize training and align forecasting granularities.</a:t>
            </a:r>
          </a:p>
          <a:p>
            <a:pPr>
              <a:spcAft>
                <a:spcPts val="800"/>
              </a:spcAft>
              <a:defRPr sz="1400" b="1">
                <a:solidFill>
                  <a:srgbClr val="00CC88"/>
                </a:solidFill>
              </a:defRPr>
            </a:pPr>
            <a:r>
              <a:t>Feature Engineering Highlights</a:t>
            </a:r>
          </a:p>
          <a:p>
            <a:pPr>
              <a:spcAft>
                <a:spcPts val="400"/>
              </a:spcAft>
              <a:defRPr sz="1150" b="0">
                <a:solidFill>
                  <a:srgbClr val="FFFFFF"/>
                </a:solidFill>
              </a:defRPr>
            </a:pPr>
            <a:r>
              <a:t>- Utilization Rate: Normalized occupancy over charger count capacity.</a:t>
            </a:r>
          </a:p>
          <a:p>
            <a:pPr>
              <a:spcAft>
                <a:spcPts val="400"/>
              </a:spcAft>
              <a:defRPr sz="1150" b="0">
                <a:solidFill>
                  <a:srgbClr val="FFFFFF"/>
                </a:solidFill>
              </a:defRPr>
            </a:pPr>
            <a:r>
              <a:t>- Energy Cost: Time-of-Use grid procurement tariffs (Peak ₹12, Shoulder ₹9, Off-Peak ₹6/kWh).</a:t>
            </a:r>
          </a:p>
          <a:p>
            <a:pPr>
              <a:spcAft>
                <a:spcPts val="400"/>
              </a:spcAft>
              <a:defRPr sz="1150" b="0">
                <a:solidFill>
                  <a:srgbClr val="FFFFFF"/>
                </a:solidFill>
              </a:defRPr>
            </a:pPr>
            <a:r>
              <a:t>- Wait-Time Proxy: Modeled queue length when utilization exceeds 80%.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828800"/>
          <a:ext cx="53035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6400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21919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CC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21919"/>
                          </a:solidFill>
                        </a:defRPr>
                      </a:pPr>
                      <a:r>
                        <a:t>ACN-Caltech</a:t>
                      </a:r>
                    </a:p>
                  </a:txBody>
                  <a:tcPr>
                    <a:solidFill>
                      <a:srgbClr val="00CC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21919"/>
                          </a:solidFill>
                        </a:defRPr>
                      </a:pPr>
                      <a:r>
                        <a:t>UrbanEV (SZ)</a:t>
                      </a:r>
                    </a:p>
                  </a:txBody>
                  <a:tcPr>
                    <a:solidFill>
                      <a:srgbClr val="00CC8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Timespan</a:t>
                      </a:r>
                    </a:p>
                  </a:txBody>
                  <a:tcPr>
                    <a:solidFill>
                      <a:srgbClr val="1E2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April - Dec 2018 (235d)</a:t>
                      </a:r>
                    </a:p>
                  </a:txBody>
                  <a:tcPr>
                    <a:solidFill>
                      <a:srgbClr val="1E2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June - July 2022 (30d)</a:t>
                      </a:r>
                    </a:p>
                  </a:txBody>
                  <a:tcPr>
                    <a:solidFill>
                      <a:srgbClr val="1E282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Granularity</a:t>
                      </a:r>
                    </a:p>
                  </a:txBody>
                  <a:tcPr>
                    <a:solidFill>
                      <a:srgbClr val="1E2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Session-level (Hourly)</a:t>
                      </a:r>
                    </a:p>
                  </a:txBody>
                  <a:tcPr>
                    <a:solidFill>
                      <a:srgbClr val="1E2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5-min (Hourly Agg)</a:t>
                      </a:r>
                    </a:p>
                  </a:txBody>
                  <a:tcPr>
                    <a:solidFill>
                      <a:srgbClr val="1E282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Units Modelled</a:t>
                      </a:r>
                    </a:p>
                  </a:txBody>
                  <a:tcPr>
                    <a:solidFill>
                      <a:srgbClr val="1E2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54 stations (chargers)</a:t>
                      </a:r>
                    </a:p>
                  </a:txBody>
                  <a:tcPr>
                    <a:solidFill>
                      <a:srgbClr val="1E2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247 grids (districts)</a:t>
                      </a:r>
                    </a:p>
                  </a:txBody>
                  <a:tcPr>
                    <a:solidFill>
                      <a:srgbClr val="1E282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Total Records</a:t>
                      </a:r>
                    </a:p>
                  </a:txBody>
                  <a:tcPr>
                    <a:solidFill>
                      <a:srgbClr val="1E2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303,858 station-hours</a:t>
                      </a:r>
                    </a:p>
                  </a:txBody>
                  <a:tcPr>
                    <a:solidFill>
                      <a:srgbClr val="1E2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171,912 grid-hours</a:t>
                      </a:r>
                    </a:p>
                  </a:txBody>
                  <a:tcPr>
                    <a:solidFill>
                      <a:srgbClr val="1E28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7295" cy="36576"/>
          </a:xfrm>
          <a:prstGeom prst="rect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C88"/>
                </a:solidFill>
              </a:defRPr>
            </a:pPr>
            <a:r>
              <a:t>OPERATIONAL PRESTIGE '26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Exploratory Data Analysis: Demand Behavior &amp; Volatility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CC88"/>
                </a:solidFill>
              </a:defRPr>
            </a:pPr>
            <a:r>
              <a:t>Temporal Usage Signatures</a:t>
            </a:r>
          </a:p>
          <a:p>
            <a:pPr>
              <a:spcAft>
                <a:spcPts val="400"/>
              </a:spcAft>
              <a:defRPr sz="1150" b="0">
                <a:solidFill>
                  <a:srgbClr val="FFFFFF"/>
                </a:solidFill>
              </a:defRPr>
            </a:pPr>
            <a:r>
              <a:t>- ACN: Clear workspace profile. Peak charging load occurs in the morning (8 AM - 11 AM) as commuters arrive, dropping to near zero on weekends.</a:t>
            </a:r>
          </a:p>
          <a:p>
            <a:pPr>
              <a:spcAft>
                <a:spcPts val="400"/>
              </a:spcAft>
              <a:defRPr sz="1150" b="0">
                <a:solidFill>
                  <a:srgbClr val="FFFFFF"/>
                </a:solidFill>
              </a:defRPr>
            </a:pPr>
            <a:r>
              <a:t>- UrbanEV: Bi-modal daily distribution. Demand peaks in the afternoon (1 PM - 3 PM) and late evening (7 PM - 9 PM) reflecting urban taxi and delivery fleet behaviors.</a:t>
            </a:r>
          </a:p>
          <a:p>
            <a:pPr>
              <a:spcAft>
                <a:spcPts val="800"/>
              </a:spcAft>
              <a:defRPr sz="1400" b="1">
                <a:solidFill>
                  <a:srgbClr val="00CC88"/>
                </a:solidFill>
              </a:defRPr>
            </a:pPr>
            <a:r>
              <a:t>Peak vs. Off-Peak Volatility</a:t>
            </a:r>
          </a:p>
          <a:p>
            <a:pPr>
              <a:spcAft>
                <a:spcPts val="400"/>
              </a:spcAft>
              <a:defRPr sz="1150" b="0">
                <a:solidFill>
                  <a:srgbClr val="FFFFFF"/>
                </a:solidFill>
              </a:defRPr>
            </a:pPr>
            <a:r>
              <a:t>- Peak hours exhibit heavy queue probabilities, with occupancy rates frequently hitting maximum capacity.</a:t>
            </a:r>
          </a:p>
          <a:p>
            <a:pPr>
              <a:spcAft>
                <a:spcPts val="400"/>
              </a:spcAft>
              <a:defRPr sz="1150" b="0">
                <a:solidFill>
                  <a:srgbClr val="FFFFFF"/>
                </a:solidFill>
              </a:defRPr>
            </a:pPr>
            <a:r>
              <a:t>- Off-peak windows (midnight to 7 AM) show severe charger underutilization (below 15%), representing wasted infrastructure efficiency.</a:t>
            </a:r>
          </a:p>
          <a:p>
            <a:pPr>
              <a:spcAft>
                <a:spcPts val="800"/>
              </a:spcAft>
              <a:defRPr sz="1400" b="1">
                <a:solidFill>
                  <a:srgbClr val="00CC88"/>
                </a:solidFill>
              </a:defRPr>
            </a:pPr>
            <a:r>
              <a:t>Spatial Heterogeneity</a:t>
            </a:r>
          </a:p>
          <a:p>
            <a:pPr>
              <a:spcAft>
                <a:spcPts val="400"/>
              </a:spcAft>
              <a:defRPr sz="1150" b="0">
                <a:solidFill>
                  <a:srgbClr val="FFFFFF"/>
                </a:solidFill>
              </a:defRPr>
            </a:pPr>
            <a:r>
              <a:t>- Grid demand is heavily concentrated in CBD districts (2-3x higher average load) compared to residential and suburban grids.</a:t>
            </a:r>
          </a:p>
        </p:txBody>
      </p:sp>
      <p:pic>
        <p:nvPicPr>
          <p:cNvPr id="7" name="Picture 6" descr="eda_acn_dem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760720" cy="2377440"/>
          </a:xfrm>
          <a:prstGeom prst="rect">
            <a:avLst/>
          </a:prstGeom>
        </p:spPr>
      </p:pic>
      <p:pic>
        <p:nvPicPr>
          <p:cNvPr id="8" name="Picture 7" descr="eda_urbanev_dem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931920"/>
            <a:ext cx="576072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7295" cy="36576"/>
          </a:xfrm>
          <a:prstGeom prst="rect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C88"/>
                </a:solidFill>
              </a:defRPr>
            </a:pPr>
            <a:r>
              <a:t>OPERATIONAL PRESTIGE '26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Demand Prediction Agent: Forecasting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CC88"/>
                </a:solidFill>
              </a:defRPr>
            </a:pPr>
            <a:r>
              <a:t>Machine Learning Forecasting Architecture</a:t>
            </a:r>
          </a:p>
          <a:p>
            <a:pPr>
              <a:spcAft>
                <a:spcPts val="400"/>
              </a:spcAft>
              <a:defRPr sz="1150" b="0">
                <a:solidFill>
                  <a:srgbClr val="FFFFFF"/>
                </a:solidFill>
              </a:defRPr>
            </a:pPr>
            <a:r>
              <a:t>- Model: Random Forest Regressor and Congestion Classifiers trained on chronological train/test split (80% train, 20% test).</a:t>
            </a:r>
          </a:p>
          <a:p>
            <a:pPr>
              <a:spcAft>
                <a:spcPts val="400"/>
              </a:spcAft>
              <a:defRPr sz="1150" b="0">
                <a:solidFill>
                  <a:srgbClr val="FFFFFF"/>
                </a:solidFill>
              </a:defRPr>
            </a:pPr>
            <a:r>
              <a:t>- Core Features: Lags (t-1, t-2, t-24 volume), hour, dayofweek, is_weekend, and grid-capacity specs.</a:t>
            </a:r>
          </a:p>
          <a:p>
            <a:pPr>
              <a:spcAft>
                <a:spcPts val="800"/>
              </a:spcAft>
              <a:defRPr sz="1400" b="1">
                <a:solidFill>
                  <a:srgbClr val="00CC88"/>
                </a:solidFill>
              </a:defRPr>
            </a:pPr>
            <a:r>
              <a:t>Prediction Performance Summary</a:t>
            </a:r>
          </a:p>
          <a:p>
            <a:pPr>
              <a:spcAft>
                <a:spcPts val="400"/>
              </a:spcAft>
              <a:defRPr sz="1150" b="0">
                <a:solidFill>
                  <a:srgbClr val="FFFFFF"/>
                </a:solidFill>
              </a:defRPr>
            </a:pPr>
            <a:r>
              <a:t>- ACN: Volume R² of 0.631, Utilization R² of 0.769. Congestion classifier achieved 94.7% accuracy (AUC 0.976).</a:t>
            </a:r>
          </a:p>
          <a:p>
            <a:pPr>
              <a:spcAft>
                <a:spcPts val="400"/>
              </a:spcAft>
              <a:defRPr sz="1150" b="0">
                <a:solidFill>
                  <a:srgbClr val="FFFFFF"/>
                </a:solidFill>
              </a:defRPr>
            </a:pPr>
            <a:r>
              <a:t>- UrbanEV: Volume R² of 0.973, Utilization R² of 0.935. Congestion classifier achieved 99.6% accuracy (AUC 0.998).</a:t>
            </a:r>
          </a:p>
          <a:p>
            <a:pPr>
              <a:spcAft>
                <a:spcPts val="800"/>
              </a:spcAft>
              <a:defRPr sz="1400" b="1">
                <a:solidFill>
                  <a:srgbClr val="00CC88"/>
                </a:solidFill>
              </a:defRPr>
            </a:pPr>
            <a:r>
              <a:t>Feature Importance Ranking</a:t>
            </a:r>
          </a:p>
          <a:p>
            <a:pPr>
              <a:spcAft>
                <a:spcPts val="400"/>
              </a:spcAft>
              <a:defRPr sz="1150" b="0">
                <a:solidFill>
                  <a:srgbClr val="FFFFFF"/>
                </a:solidFill>
              </a:defRPr>
            </a:pPr>
            <a:r>
              <a:t>- Immediate historical load (vol_lag1) and diurnal seasonality (vol_lag24) dominate predictions, confirming stable repeating patterns.</a:t>
            </a:r>
          </a:p>
        </p:txBody>
      </p:sp>
      <p:pic>
        <p:nvPicPr>
          <p:cNvPr id="7" name="Picture 6" descr="model_predictions_urbane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828800"/>
            <a:ext cx="5943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7295" cy="36576"/>
          </a:xfrm>
          <a:prstGeom prst="rect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C88"/>
                </a:solidFill>
              </a:defRPr>
            </a:pPr>
            <a:r>
              <a:t>OPERATIONAL PRESTIGE '26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Dynamic Tariff Agent: Pricing Outcomes &amp; Revenue Gain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CC88"/>
                </a:solidFill>
              </a:defRPr>
            </a:pPr>
            <a:r>
              <a:t>Dynamic Tariff Optimization Policy</a:t>
            </a:r>
          </a:p>
          <a:p>
            <a:pPr>
              <a:spcAft>
                <a:spcPts val="400"/>
              </a:spcAft>
              <a:defRPr sz="1150" b="0">
                <a:solidFill>
                  <a:srgbClr val="FFFFFF"/>
                </a:solidFill>
              </a:defRPr>
            </a:pPr>
            <a:r>
              <a:t>- Surge Price (₹22/kWh) is applied when predicted utilization exceeds 80%, to curb peak-hour congestion.</a:t>
            </a:r>
          </a:p>
          <a:p>
            <a:pPr>
              <a:spcAft>
                <a:spcPts val="400"/>
              </a:spcAft>
              <a:defRPr sz="1150" b="0">
                <a:solidFill>
                  <a:srgbClr val="FFFFFF"/>
                </a:solidFill>
              </a:defRPr>
            </a:pPr>
            <a:r>
              <a:t>- Discount Price (₹10/kWh) is applied when predicted utilization falls below 30%, to stimulate off-peak utilization.</a:t>
            </a:r>
          </a:p>
          <a:p>
            <a:pPr>
              <a:spcAft>
                <a:spcPts val="400"/>
              </a:spcAft>
              <a:defRPr sz="1150" b="0">
                <a:solidFill>
                  <a:srgbClr val="FFFFFF"/>
                </a:solidFill>
              </a:defRPr>
            </a:pPr>
            <a:r>
              <a:t>- Standard Price (₹15/kWh) is applied during normal operational windows.</a:t>
            </a:r>
          </a:p>
          <a:p>
            <a:pPr>
              <a:spcAft>
                <a:spcPts val="800"/>
              </a:spcAft>
              <a:defRPr sz="1400" b="1">
                <a:solidFill>
                  <a:srgbClr val="00CC88"/>
                </a:solidFill>
              </a:defRPr>
            </a:pPr>
            <a:r>
              <a:t>Simulation Results &amp; Elasticity Analysis</a:t>
            </a:r>
          </a:p>
          <a:p>
            <a:pPr>
              <a:spcAft>
                <a:spcPts val="400"/>
              </a:spcAft>
              <a:defRPr sz="1150" b="0">
                <a:solidFill>
                  <a:srgbClr val="FFFFFF"/>
                </a:solidFill>
              </a:defRPr>
            </a:pPr>
            <a:r>
              <a:t>- ACN: Consistently generated positive Revenue Gains (average ~4.5% daily gain) compared to the ₹15 flat tariff baseline.</a:t>
            </a:r>
          </a:p>
          <a:p>
            <a:pPr>
              <a:spcAft>
                <a:spcPts val="400"/>
              </a:spcAft>
              <a:defRPr sz="1150" b="0">
                <a:solidFill>
                  <a:srgbClr val="FFFFFF"/>
                </a:solidFill>
              </a:defRPr>
            </a:pPr>
            <a:r>
              <a:t>- UrbanEV: Elasticity of 0.4 resulted in a slight revenue reduction (~-3.5% daily) due to the off-peak discount, but successfully achieved a substantial 9.5% off-peak demand shift.</a:t>
            </a:r>
          </a:p>
          <a:p>
            <a:pPr>
              <a:spcAft>
                <a:spcPts val="800"/>
              </a:spcAft>
              <a:defRPr sz="1400" b="1">
                <a:solidFill>
                  <a:srgbClr val="00CC88"/>
                </a:solidFill>
              </a:defRPr>
            </a:pPr>
            <a:r>
              <a:t>Peak Congestion Control</a:t>
            </a:r>
          </a:p>
          <a:p>
            <a:pPr>
              <a:spcAft>
                <a:spcPts val="400"/>
              </a:spcAft>
              <a:defRPr sz="1150" b="0">
                <a:solidFill>
                  <a:srgbClr val="FFFFFF"/>
                </a:solidFill>
              </a:defRPr>
            </a:pPr>
            <a:r>
              <a:t>- Queue length proxy was reduced significantly, shifting charging load away from overloaded grids.</a:t>
            </a:r>
          </a:p>
        </p:txBody>
      </p:sp>
      <p:pic>
        <p:nvPicPr>
          <p:cNvPr id="7" name="Picture 6" descr="pricing_outcomes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828800"/>
            <a:ext cx="5943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7295" cy="36576"/>
          </a:xfrm>
          <a:prstGeom prst="rect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C88"/>
                </a:solidFill>
              </a:defRPr>
            </a:pPr>
            <a:r>
              <a:t>OPERATIONAL PRESTIGE '26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Monitoring &amp; Learning Agent: Closed-Loop 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CC88"/>
                </a:solidFill>
              </a:defRPr>
            </a:pPr>
            <a:r>
              <a:t>Closed-Loop Feedback Mechanism</a:t>
            </a:r>
          </a:p>
          <a:p>
            <a:pPr>
              <a:spcAft>
                <a:spcPts val="400"/>
              </a:spcAft>
              <a:defRPr sz="1150" b="0">
                <a:solidFill>
                  <a:srgbClr val="FFFFFF"/>
                </a:solidFill>
              </a:defRPr>
            </a:pPr>
            <a:r>
              <a:t>- The Monitoring Agent systematically tracks daily metrics (Revenue, Utilization, Queue Reductions, and Off-Peak Uplift).</a:t>
            </a:r>
          </a:p>
          <a:p>
            <a:pPr>
              <a:spcAft>
                <a:spcPts val="400"/>
              </a:spcAft>
              <a:defRPr sz="1150" b="0">
                <a:solidFill>
                  <a:srgbClr val="FFFFFF"/>
                </a:solidFill>
              </a:defRPr>
            </a:pPr>
            <a:r>
              <a:t>- If peak-hour queues are successfully reduced, the agent incrementally raises the surge price to maximize revenue.</a:t>
            </a:r>
          </a:p>
          <a:p>
            <a:pPr>
              <a:spcAft>
                <a:spcPts val="400"/>
              </a:spcAft>
              <a:defRPr sz="1150" b="0">
                <a:solidFill>
                  <a:srgbClr val="FFFFFF"/>
                </a:solidFill>
              </a:defRPr>
            </a:pPr>
            <a:r>
              <a:t>- If off-peak uplift is weak, the agent increases the discount to attract more price-sensitive users.</a:t>
            </a:r>
          </a:p>
          <a:p>
            <a:pPr>
              <a:spcAft>
                <a:spcPts val="800"/>
              </a:spcAft>
              <a:defRPr sz="1400" b="1">
                <a:solidFill>
                  <a:srgbClr val="00CC88"/>
                </a:solidFill>
              </a:defRPr>
            </a:pPr>
            <a:r>
              <a:t>Feedback Loop Performance</a:t>
            </a:r>
          </a:p>
          <a:p>
            <a:pPr>
              <a:spcAft>
                <a:spcPts val="400"/>
              </a:spcAft>
              <a:defRPr sz="1150" b="0">
                <a:solidFill>
                  <a:srgbClr val="FFFFFF"/>
                </a:solidFill>
              </a:defRPr>
            </a:pPr>
            <a:r>
              <a:t>- ACN: The surge price dynamically stabilized around ₹21.0 - ₹22.5/kWh, maximizing revenue while maintaining stable wait times.</a:t>
            </a:r>
          </a:p>
          <a:p>
            <a:pPr>
              <a:spcAft>
                <a:spcPts val="400"/>
              </a:spcAft>
              <a:defRPr sz="1150" b="0">
                <a:solidFill>
                  <a:srgbClr val="FFFFFF"/>
                </a:solidFill>
              </a:defRPr>
            </a:pPr>
            <a:r>
              <a:t>- UrbanEV: Dynamic feedback helped smooth grid load over the 6-day episode slice, reducing peak queue lengths by ~8-12% and improving grid reliability.</a:t>
            </a:r>
          </a:p>
          <a:p>
            <a:pPr>
              <a:spcAft>
                <a:spcPts val="800"/>
              </a:spcAft>
              <a:defRPr sz="1400" b="1">
                <a:solidFill>
                  <a:srgbClr val="00CC88"/>
                </a:solidFill>
              </a:defRPr>
            </a:pPr>
            <a:r>
              <a:t>Adaptive Intelligence</a:t>
            </a:r>
          </a:p>
          <a:p>
            <a:pPr>
              <a:spcAft>
                <a:spcPts val="400"/>
              </a:spcAft>
              <a:defRPr sz="1150" b="0">
                <a:solidFill>
                  <a:srgbClr val="FFFFFF"/>
                </a:solidFill>
              </a:defRPr>
            </a:pPr>
            <a:r>
              <a:t>- Continuous parameter updating avoids price shocks and ensures long-term system stability.</a:t>
            </a:r>
          </a:p>
        </p:txBody>
      </p:sp>
      <p:pic>
        <p:nvPicPr>
          <p:cNvPr id="7" name="Picture 6" descr="pricing_feedback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828800"/>
            <a:ext cx="5943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7295" cy="36576"/>
          </a:xfrm>
          <a:prstGeom prst="rect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C88"/>
                </a:solidFill>
              </a:defRPr>
            </a:pPr>
            <a:r>
              <a:t>OPERATIONAL PRESTIGE '26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Business, Operational, and Policy Implications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0CC88"/>
                </a:solidFill>
              </a:defRPr>
            </a:pPr>
            <a:r>
              <a:t>Strategic Business Insights for CPOs (Charge Point Operators)</a:t>
            </a:r>
          </a:p>
          <a:p>
            <a:pPr>
              <a:spcAft>
                <a:spcPts val="400"/>
              </a:spcAft>
              <a:defRPr sz="1100" b="0">
                <a:solidFill>
                  <a:srgbClr val="FFFFFF"/>
                </a:solidFill>
              </a:defRPr>
            </a:pPr>
            <a:r>
              <a:t>- Dual-Objective Optimization: Operators must balance revenue maximization (via surge pricing) against grid load balancing (via discount pricing). While off-peak discounts slightly reduce short-term margin, they prevent grid failures and expand long-term customer lifetime value.</a:t>
            </a:r>
          </a:p>
          <a:p>
            <a:pPr>
              <a:spcAft>
                <a:spcPts val="400"/>
              </a:spcAft>
              <a:defRPr sz="1100" b="0">
                <a:solidFill>
                  <a:srgbClr val="FFFFFF"/>
                </a:solidFill>
              </a:defRPr>
            </a:pPr>
            <a:r>
              <a:t>- Capacity Investment: Preprocessing highlighted that CBD zones operate at extreme capacity while non-CBD zones sit idle. CPOs should redirect infrastructure expansions (specifically Fast Chargers) to under-served, high-utilization clusters identified by the Demand Agent.</a:t>
            </a:r>
          </a:p>
          <a:p>
            <a:pPr>
              <a:spcAft>
                <a:spcPts val="1000"/>
              </a:spcAft>
              <a:defRPr sz="1400" b="1">
                <a:solidFill>
                  <a:srgbClr val="00CC88"/>
                </a:solidFill>
              </a:defRPr>
            </a:pPr>
            <a:r>
              <a:t>Grid &amp; Policy Implications</a:t>
            </a:r>
          </a:p>
          <a:p>
            <a:pPr>
              <a:spcAft>
                <a:spcPts val="400"/>
              </a:spcAft>
              <a:defRPr sz="1100" b="0">
                <a:solidFill>
                  <a:srgbClr val="FFFFFF"/>
                </a:solidFill>
              </a:defRPr>
            </a:pPr>
            <a:r>
              <a:t>- Grid Load Smoothing: Dynamic pricing shifted ~9.5% of demand to off-peak periods, directly reducing peak grid load stress. This is crucial for municipal utility integration.</a:t>
            </a:r>
          </a:p>
          <a:p>
            <a:pPr>
              <a:spcAft>
                <a:spcPts val="400"/>
              </a:spcAft>
              <a:defRPr sz="1100" b="0">
                <a:solidFill>
                  <a:srgbClr val="FFFFFF"/>
                </a:solidFill>
              </a:defRPr>
            </a:pPr>
            <a:r>
              <a:t>- Consumer Transparency: The learning agent's slow-adjustment logic helps CPOs communicate predictable pricing schedules to fleet users (e.g. taxi, logistics), preventing user churn.</a:t>
            </a:r>
          </a:p>
          <a:p>
            <a:pPr>
              <a:spcAft>
                <a:spcPts val="1000"/>
              </a:spcAft>
              <a:defRPr sz="1400" b="1">
                <a:solidFill>
                  <a:srgbClr val="00CC88"/>
                </a:solidFill>
              </a:defRPr>
            </a:pPr>
            <a:r>
              <a:t>Limitations &amp; Caveats</a:t>
            </a:r>
          </a:p>
          <a:p>
            <a:pPr>
              <a:spcAft>
                <a:spcPts val="400"/>
              </a:spcAft>
              <a:defRPr sz="1100" b="0">
                <a:solidFill>
                  <a:srgbClr val="FFFFFF"/>
                </a:solidFill>
              </a:defRPr>
            </a:pPr>
            <a:r>
              <a:t>- Demand Elasticity: The simulation assumes static price elasticity (0.4 - 0.5). In reality, elasticity varies dynamically depending on competitor pricing and charging alternatives. Causal claims should be validated with live A/B testing on pricing pilots.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7295" cy="36576"/>
          </a:xfrm>
          <a:prstGeom prst="rect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C88"/>
                </a:solidFill>
              </a:defRPr>
            </a:pPr>
            <a:r>
              <a:t>APPENDIX: MODEL ROBUSTNESS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Appendix: Sensitivity Analysis &amp; Robustness Checks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CC88"/>
                </a:solidFill>
              </a:defRPr>
            </a:pPr>
            <a:r>
              <a:t>Sensitivity to Price Elasticity</a:t>
            </a:r>
          </a:p>
          <a:p>
            <a:pPr>
              <a:spcAft>
                <a:spcPts val="400"/>
              </a:spcAft>
              <a:defRPr sz="1150" b="0">
                <a:solidFill>
                  <a:srgbClr val="FFFFFF"/>
                </a:solidFill>
              </a:defRPr>
            </a:pPr>
            <a:r>
              <a:t>- Price elasticity controls customer response to tariff adjustments. We evaluated the pricing model at low (0.2), moderate (0.5), and high (0.8) elasticities.</a:t>
            </a:r>
          </a:p>
          <a:p>
            <a:pPr>
              <a:spcAft>
                <a:spcPts val="400"/>
              </a:spcAft>
              <a:defRPr sz="1150" b="0">
                <a:solidFill>
                  <a:srgbClr val="FFFFFF"/>
                </a:solidFill>
              </a:defRPr>
            </a:pPr>
            <a:r>
              <a:t>- ACN Revenue Gain remains positive across all scenarios (varying from ~3% to ~6.5%), confirming dynamic pricing is robust to elasticity errors.</a:t>
            </a:r>
          </a:p>
          <a:p>
            <a:pPr>
              <a:spcAft>
                <a:spcPts val="400"/>
              </a:spcAft>
              <a:defRPr sz="1150" b="0">
                <a:solidFill>
                  <a:srgbClr val="FFFFFF"/>
                </a:solidFill>
              </a:defRPr>
            </a:pPr>
            <a:r>
              <a:t>- UrbanEV volume shifts scale linearly with elasticity: high elasticity (0.8) increases off-peak uplift to 18%, but reduces peak revenue due to larger discounts.</a:t>
            </a:r>
          </a:p>
          <a:p>
            <a:pPr>
              <a:spcAft>
                <a:spcPts val="800"/>
              </a:spcAft>
              <a:defRPr sz="1400" b="1">
                <a:solidFill>
                  <a:srgbClr val="00CC88"/>
                </a:solidFill>
              </a:defRPr>
            </a:pPr>
            <a:r>
              <a:t>Peak Queue Reduction &amp; Wait Times</a:t>
            </a:r>
          </a:p>
          <a:p>
            <a:pPr>
              <a:spcAft>
                <a:spcPts val="400"/>
              </a:spcAft>
              <a:defRPr sz="1150" b="0">
                <a:solidFill>
                  <a:srgbClr val="FFFFFF"/>
                </a:solidFill>
              </a:defRPr>
            </a:pPr>
            <a:r>
              <a:t>- Peak queue lengths are highly sensitive to elasticity. High elasticity allows a 15% reduction in grid queues during congestion windows.</a:t>
            </a:r>
          </a:p>
          <a:p>
            <a:pPr>
              <a:spcAft>
                <a:spcPts val="400"/>
              </a:spcAft>
              <a:defRPr sz="1150" b="0">
                <a:solidFill>
                  <a:srgbClr val="FFFFFF"/>
                </a:solidFill>
              </a:defRPr>
            </a:pPr>
            <a:r>
              <a:t>- This indicates that dynamic pricing is an effective traffic management tool, particularly when users have alternative charging choices.</a:t>
            </a:r>
          </a:p>
        </p:txBody>
      </p:sp>
      <p:pic>
        <p:nvPicPr>
          <p:cNvPr id="7" name="Picture 6" descr="pricing_sensitivity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828800"/>
            <a:ext cx="59436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